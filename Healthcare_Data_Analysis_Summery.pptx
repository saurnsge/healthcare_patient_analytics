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BB641-34F4-00FA-7946-3CAC8F1AB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DC0AC3-301B-087E-C06C-6A87201D9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A3EF1-0554-6B1E-3BCD-BFD96DBA9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12D0-A2AA-4ED3-A513-1B6A74C4820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8CA8E-611A-422B-A72F-B208E42D9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41FDC-ABC5-F461-A66B-2B94EE903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904B-6279-41B3-8EF0-67138BAE2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208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BBFFD-9B91-1FCD-FA7C-6D42EE48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779A8-4061-337C-A981-B4ED6282A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93113-C2A9-22A0-B386-543B69419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12D0-A2AA-4ED3-A513-1B6A74C4820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4C006-A40D-B289-9BA5-F16A4AFF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A143E-B1DA-A98B-EFEE-BD763C333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904B-6279-41B3-8EF0-67138BAE2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002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B9C6-2275-C0DB-68DF-451946560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DAE4C-0826-5253-43AD-A2B33906E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8C08D-CD33-9838-31BF-0F2439F5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12D0-A2AA-4ED3-A513-1B6A74C4820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2A9F7-055A-7EB1-51A6-716824D3E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5048F-59ED-B0DA-F796-B7C86CF35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904B-6279-41B3-8EF0-67138BAE2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372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77DB0-3433-F718-6895-D6CA62E11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68D8B-19CF-3361-01C5-00D2BD701E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A8D80-8FEC-2118-949F-DFA09CBBD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378BE-D981-F6BF-132E-6E5072767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12D0-A2AA-4ED3-A513-1B6A74C4820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55FB2-A5E1-45C8-9D31-B688E2122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3C7D5-4AE7-09C9-E5C0-E2BE4638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904B-6279-41B3-8EF0-67138BAE2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347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AE81B-3AFD-78F3-9F89-F30796B42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FE0A8-4165-7397-0329-7CF3B442A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E5C26-9494-6E97-8703-E3439568C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F7AD48-A678-1F0E-7D50-B222506872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8DE616-2828-0D3D-1473-2FE4F70B4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AA2611-39E8-F15C-C406-BDF02E2BD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12D0-A2AA-4ED3-A513-1B6A74C4820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FA9704-AF9D-710C-2B82-A600FE01C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FC03A-A660-81CD-B194-F2247458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904B-6279-41B3-8EF0-67138BAE2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183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B210-709D-913E-3CF3-5DB9404FA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95707E-6040-7672-D335-8085111DE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12D0-A2AA-4ED3-A513-1B6A74C4820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21523-CD97-CAC0-18B8-902FCB7A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9066A-CC6E-F423-46F6-DF8B36108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904B-6279-41B3-8EF0-67138BAE2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323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8F5F0D-9A04-9306-A00F-AA0C58115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12D0-A2AA-4ED3-A513-1B6A74C4820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3ADFBD-36D8-6C04-F616-61192EBF6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378E8-0B5B-2DC9-C344-292F08B04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904B-6279-41B3-8EF0-67138BAE2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736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131A-B71E-689C-A913-A67F7AED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4B94-C16B-7E99-E199-7E968A457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C64A23-483C-7EAB-F482-532EBB572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CC825-C59D-8E0F-5C7F-B9F806A7B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12D0-A2AA-4ED3-A513-1B6A74C4820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67237-496B-7578-4B78-088B9051D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658DB-01EB-2A5B-BF8A-E629D12AC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904B-6279-41B3-8EF0-67138BAE2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798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CC4FE-3194-1821-5D18-88F991A8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24A037-8D4F-7DD1-704C-AEF63E151B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C0D3E-5507-10D8-93B2-3CA31A2EE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663A6-B8C0-5AF8-420B-49993CE90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12D0-A2AA-4ED3-A513-1B6A74C4820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CC97F-733B-4C47-0F72-031AE686F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F0977-85E0-3388-3B3D-679DA98CE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904B-6279-41B3-8EF0-67138BAE2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633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0F0CC-066A-3665-D380-121928B7D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28E778-52DD-6F56-B8A3-DBCDAE7B3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19863-39EF-588A-3FBA-CD13345FA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12D0-A2AA-4ED3-A513-1B6A74C4820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4103A-6F5D-0BB2-AAE6-9FCEABFE1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B576F-68A8-2D87-F6AB-E6D97106D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904B-6279-41B3-8EF0-67138BAE2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48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E54364-431F-C3CD-6592-2B8BAB8B5A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BCA0F4-A0DE-9215-26A7-6A73E0F6D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4A1D4-4AB7-7339-EDCF-F3E81FDBC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12D0-A2AA-4ED3-A513-1B6A74C4820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D17A4-6DDE-3048-4C11-51EE35DA0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CA5FB-0AF5-53FA-4218-713B06F52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2904B-6279-41B3-8EF0-67138BAE2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180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37DF66-BE3F-2A63-BE3C-E73241054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217C7-A453-9250-AACA-3B217893C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D6726-9601-73CB-9A99-E1D5EA09B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3912D0-A2AA-4ED3-A513-1B6A74C4820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D4526-940A-0FF5-6ED5-E32EFF7B3F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7C71A-DF65-74E5-3028-83D8FAB8B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E2904B-6279-41B3-8EF0-67138BAE26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270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33074-4DEE-3400-47E3-114F91C29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3058" y="1130710"/>
            <a:ext cx="9350477" cy="1170038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dirty="0" err="1"/>
              <a:t>Healthcare_Data_Analysis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1B288-CC09-5EE2-BEDC-E5B6E5AB79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4568" y="2428568"/>
            <a:ext cx="9547122" cy="226141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IN" dirty="0"/>
              <a:t>About Dataset</a:t>
            </a:r>
          </a:p>
          <a:p>
            <a:r>
              <a:rPr lang="en-IN" dirty="0"/>
              <a:t>This dataset is a synthetic healthcare dataset created for educational and training purposes by </a:t>
            </a:r>
            <a:r>
              <a:rPr lang="en-IN" dirty="0" err="1"/>
              <a:t>Datarspectrum</a:t>
            </a:r>
            <a:r>
              <a:rPr lang="en-IN" dirty="0"/>
              <a:t> Technology Training </a:t>
            </a:r>
            <a:r>
              <a:rPr lang="en-IN" dirty="0" err="1"/>
              <a:t>Center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It contains </a:t>
            </a:r>
            <a:r>
              <a:rPr lang="en-IN" b="1" dirty="0"/>
              <a:t>17489</a:t>
            </a:r>
            <a:r>
              <a:rPr lang="en-IN" dirty="0"/>
              <a:t> patient records with demographic, clinical, and hospital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3881052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92419-F5D8-8620-34D6-B0BB1704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3236"/>
          </a:xfrm>
          <a:solidFill>
            <a:schemeClr val="bg1">
              <a:lumMod val="95000"/>
            </a:schemeClr>
          </a:solidFill>
          <a:ln w="19050">
            <a:solidFill>
              <a:schemeClr val="tx2">
                <a:lumMod val="25000"/>
                <a:lumOff val="75000"/>
              </a:schemeClr>
            </a:solidFill>
          </a:ln>
        </p:spPr>
        <p:txBody>
          <a:bodyPr/>
          <a:lstStyle/>
          <a:p>
            <a:r>
              <a:rPr lang="en-IN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1A6D5-2EAD-CFD5-B420-C6329C655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684"/>
            <a:ext cx="10515600" cy="5126190"/>
          </a:xfrm>
          <a:solidFill>
            <a:schemeClr val="bg1">
              <a:lumMod val="85000"/>
            </a:schemeClr>
          </a:solidFill>
          <a:ln w="19050">
            <a:solidFill>
              <a:schemeClr val="tx2">
                <a:lumMod val="25000"/>
                <a:lumOff val="75000"/>
              </a:schemeClr>
            </a:solidFill>
          </a:ln>
        </p:spPr>
        <p:txBody>
          <a:bodyPr>
            <a:normAutofit fontScale="85000" lnSpcReduction="20000"/>
          </a:bodyPr>
          <a:lstStyle/>
          <a:p>
            <a:pPr fontAlgn="base"/>
            <a:r>
              <a:rPr lang="en-IN" b="1" dirty="0" err="1"/>
              <a:t>patient_id</a:t>
            </a:r>
            <a:r>
              <a:rPr lang="en-IN" dirty="0"/>
              <a:t> – Unique patient identifier</a:t>
            </a:r>
          </a:p>
          <a:p>
            <a:pPr fontAlgn="base"/>
            <a:r>
              <a:rPr lang="en-IN" b="1" dirty="0" err="1"/>
              <a:t>first_name</a:t>
            </a:r>
            <a:r>
              <a:rPr lang="en-IN" b="1" dirty="0"/>
              <a:t>, </a:t>
            </a:r>
            <a:r>
              <a:rPr lang="en-IN" b="1" dirty="0" err="1"/>
              <a:t>last_name</a:t>
            </a:r>
            <a:r>
              <a:rPr lang="en-IN" dirty="0"/>
              <a:t> – Patient’s name details</a:t>
            </a:r>
          </a:p>
          <a:p>
            <a:pPr fontAlgn="base"/>
            <a:r>
              <a:rPr lang="en-IN" b="1" dirty="0"/>
              <a:t>age</a:t>
            </a:r>
            <a:r>
              <a:rPr lang="en-IN" dirty="0"/>
              <a:t> – Patient’s age (1–90 years)</a:t>
            </a:r>
          </a:p>
          <a:p>
            <a:pPr fontAlgn="base"/>
            <a:r>
              <a:rPr lang="en-IN" dirty="0"/>
              <a:t>**gender **– Gender (Male, Female, Other)</a:t>
            </a:r>
          </a:p>
          <a:p>
            <a:pPr fontAlgn="base"/>
            <a:r>
              <a:rPr lang="en-IN" dirty="0"/>
              <a:t>**phone, email **– Patient contact information</a:t>
            </a:r>
          </a:p>
          <a:p>
            <a:pPr fontAlgn="base"/>
            <a:r>
              <a:rPr lang="en-IN" b="1" dirty="0"/>
              <a:t>department</a:t>
            </a:r>
            <a:r>
              <a:rPr lang="en-IN" dirty="0"/>
              <a:t> – Department of consultation (Cardiology, Neurology, </a:t>
            </a:r>
            <a:r>
              <a:rPr lang="en-IN" dirty="0" err="1"/>
              <a:t>Orthopedics</a:t>
            </a:r>
            <a:r>
              <a:rPr lang="en-IN" dirty="0"/>
              <a:t>, etc.)</a:t>
            </a:r>
          </a:p>
          <a:p>
            <a:pPr fontAlgn="base"/>
            <a:r>
              <a:rPr lang="en-IN" b="1" dirty="0"/>
              <a:t>diagnosis</a:t>
            </a:r>
            <a:r>
              <a:rPr lang="en-IN" dirty="0"/>
              <a:t> – Patient’s medical condition (Diabetes, Hypertension, Asthma, etc.)</a:t>
            </a:r>
          </a:p>
          <a:p>
            <a:pPr fontAlgn="base"/>
            <a:r>
              <a:rPr lang="en-IN" b="1" dirty="0"/>
              <a:t>treatment</a:t>
            </a:r>
            <a:r>
              <a:rPr lang="en-IN" dirty="0"/>
              <a:t> – Treatment type (Medication, Surgery, Therapy, etc.)</a:t>
            </a:r>
          </a:p>
          <a:p>
            <a:pPr fontAlgn="base"/>
            <a:r>
              <a:rPr lang="en-IN" b="1" dirty="0" err="1"/>
              <a:t>admission_date</a:t>
            </a:r>
            <a:r>
              <a:rPr lang="en-IN" dirty="0"/>
              <a:t> – Date of hospital admission</a:t>
            </a:r>
          </a:p>
          <a:p>
            <a:pPr fontAlgn="base"/>
            <a:r>
              <a:rPr lang="en-IN" b="1" dirty="0" err="1"/>
              <a:t>discharge_date</a:t>
            </a:r>
            <a:r>
              <a:rPr lang="en-IN" dirty="0"/>
              <a:t> – Date of discharge</a:t>
            </a:r>
          </a:p>
          <a:p>
            <a:pPr fontAlgn="base"/>
            <a:r>
              <a:rPr lang="en-IN" b="1" dirty="0"/>
              <a:t>status</a:t>
            </a:r>
            <a:r>
              <a:rPr lang="en-IN" dirty="0"/>
              <a:t> – Patient’s hospital status (Admitted, Discharged, Under Treatment)</a:t>
            </a:r>
          </a:p>
          <a:p>
            <a:pPr fontAlgn="base"/>
            <a:r>
              <a:rPr lang="en-IN" dirty="0"/>
              <a:t>**</a:t>
            </a:r>
            <a:r>
              <a:rPr lang="en-IN" dirty="0" err="1"/>
              <a:t>bill_amount</a:t>
            </a:r>
            <a:r>
              <a:rPr lang="en-IN" dirty="0"/>
              <a:t> **– Total bill amount in INR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1115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  <a:alpha val="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3C853D-62C3-7AC2-43D0-BAC37CF65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C2E0D2D-4FD7-BB76-1E94-73B8CCC5F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bg1">
              <a:lumMod val="95000"/>
            </a:schemeClr>
          </a:solidFill>
          <a:ln w="19050">
            <a:solidFill>
              <a:schemeClr val="tx2">
                <a:lumMod val="25000"/>
                <a:lumOff val="75000"/>
              </a:schemeClr>
            </a:solidFill>
          </a:ln>
        </p:spPr>
        <p:txBody>
          <a:bodyPr/>
          <a:lstStyle/>
          <a:p>
            <a:r>
              <a:rPr lang="en-IN" dirty="0"/>
              <a:t>Excel-Data Quality Checklist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85BAC-4B33-D2F2-A5DF-541C51CB9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solidFill>
            <a:schemeClr val="bg1">
              <a:lumMod val="85000"/>
            </a:schemeClr>
          </a:solidFill>
          <a:ln w="19050">
            <a:solidFill>
              <a:schemeClr val="tx2">
                <a:lumMod val="25000"/>
                <a:lumOff val="75000"/>
              </a:schemeClr>
            </a:solidFill>
          </a:ln>
        </p:spPr>
        <p:txBody>
          <a:bodyPr/>
          <a:lstStyle/>
          <a:p>
            <a:r>
              <a:rPr lang="en-IN" dirty="0"/>
              <a:t>How many rows ?</a:t>
            </a:r>
          </a:p>
          <a:p>
            <a:r>
              <a:rPr lang="en-IN" dirty="0"/>
              <a:t>Is </a:t>
            </a:r>
            <a:r>
              <a:rPr lang="en-IN" dirty="0" err="1"/>
              <a:t>patient_id</a:t>
            </a:r>
            <a:r>
              <a:rPr lang="en-IN" dirty="0"/>
              <a:t> unique or not ?</a:t>
            </a:r>
          </a:p>
          <a:p>
            <a:r>
              <a:rPr lang="en-IN" dirty="0"/>
              <a:t>Duplicate records</a:t>
            </a:r>
          </a:p>
          <a:p>
            <a:r>
              <a:rPr lang="en-IN" dirty="0"/>
              <a:t>Is there any missing value?</a:t>
            </a:r>
          </a:p>
          <a:p>
            <a:r>
              <a:rPr lang="en-IN" dirty="0"/>
              <a:t>Invalid ages like age &lt;0 or age &gt;120</a:t>
            </a:r>
          </a:p>
          <a:p>
            <a:r>
              <a:rPr lang="en-IN" dirty="0"/>
              <a:t>Valid admission date and Discharge date</a:t>
            </a:r>
          </a:p>
          <a:p>
            <a:r>
              <a:rPr lang="en-IN" dirty="0"/>
              <a:t>Check negative values in Bill amount?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6787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21C31-6030-CE5D-60E3-733CEA17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3122"/>
            <a:ext cx="10515600" cy="590918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IN" sz="1600" b="1" dirty="0"/>
              <a:t>Date Data Cleaning &amp; Validation</a:t>
            </a:r>
          </a:p>
          <a:p>
            <a:pPr marL="0" indent="0">
              <a:buNone/>
            </a:pPr>
            <a:r>
              <a:rPr lang="en-IN" sz="1600" dirty="0"/>
              <a:t>1. Initial Data Validation</a:t>
            </a:r>
          </a:p>
          <a:p>
            <a:pPr marL="0" indent="0">
              <a:buNone/>
            </a:pPr>
            <a:r>
              <a:rPr lang="en-IN" sz="1600" dirty="0"/>
              <a:t>	Verified Admission Date and Discharge Date columns.</a:t>
            </a:r>
          </a:p>
          <a:p>
            <a:pPr marL="0" indent="0">
              <a:buNone/>
            </a:pPr>
            <a:r>
              <a:rPr lang="en-IN" sz="1600" dirty="0"/>
              <a:t>	Confirmed both columns were recognized as valid Date format.</a:t>
            </a:r>
          </a:p>
          <a:p>
            <a:pPr marL="0" indent="0">
              <a:buNone/>
            </a:pPr>
            <a:r>
              <a:rPr lang="en-IN" sz="1600" dirty="0"/>
              <a:t>	Checked for blank / missing date values.</a:t>
            </a:r>
          </a:p>
          <a:p>
            <a:pPr marL="0" indent="0">
              <a:buNone/>
            </a:pPr>
            <a:r>
              <a:rPr lang="en-IN" sz="1600" dirty="0"/>
              <a:t>	No blank values were found in the two date columns.</a:t>
            </a:r>
          </a:p>
          <a:p>
            <a:pPr marL="0" indent="0">
              <a:buNone/>
            </a:pPr>
            <a:r>
              <a:rPr lang="en-IN" sz="1600" dirty="0"/>
              <a:t>2. Date Relationship Validation</a:t>
            </a:r>
          </a:p>
          <a:p>
            <a:pPr marL="0" indent="0">
              <a:buNone/>
            </a:pPr>
            <a:r>
              <a:rPr lang="en-IN" sz="1600" dirty="0"/>
              <a:t>	Created a Length of Stay column using:</a:t>
            </a:r>
            <a:br>
              <a:rPr lang="en-IN" sz="1600" dirty="0"/>
            </a:br>
            <a:r>
              <a:rPr lang="en-IN" sz="1600" dirty="0"/>
              <a:t>	Discharge Date – Admission Date</a:t>
            </a:r>
          </a:p>
          <a:p>
            <a:pPr marL="0" indent="0">
              <a:buNone/>
            </a:pPr>
            <a:r>
              <a:rPr lang="en-IN" sz="1600" dirty="0"/>
              <a:t>	Created a Date Validation flag to identify inconsistent date relationships.</a:t>
            </a:r>
          </a:p>
          <a:p>
            <a:pPr marL="0" indent="0">
              <a:buNone/>
            </a:pPr>
            <a:r>
              <a:rPr lang="en-IN" sz="1600" dirty="0"/>
              <a:t>	Records where Discharge Date &lt; Admission Date were marked as Invalid.</a:t>
            </a:r>
          </a:p>
          <a:p>
            <a:pPr marL="0" indent="0">
              <a:buNone/>
            </a:pPr>
            <a:r>
              <a:rPr lang="en-IN" sz="1600" dirty="0"/>
              <a:t>	Identified 4,398 records with invalid date relationships.</a:t>
            </a:r>
          </a:p>
          <a:p>
            <a:pPr marL="0" indent="0">
              <a:buNone/>
            </a:pPr>
            <a:r>
              <a:rPr lang="en-IN" sz="1600" dirty="0"/>
              <a:t>3. Further Investigation</a:t>
            </a:r>
          </a:p>
          <a:p>
            <a:pPr marL="0" indent="0">
              <a:buNone/>
            </a:pPr>
            <a:r>
              <a:rPr lang="en-IN" sz="1600" dirty="0"/>
              <a:t>	Performed status-wise analysis of invalid records.</a:t>
            </a:r>
          </a:p>
          <a:p>
            <a:pPr marL="0" indent="0">
              <a:buNone/>
            </a:pPr>
            <a:r>
              <a:rPr lang="en-IN" sz="1600" dirty="0"/>
              <a:t>	Invalid records were distributed across:</a:t>
            </a:r>
          </a:p>
          <a:p>
            <a:pPr lvl="2"/>
            <a:r>
              <a:rPr lang="en-IN" sz="1200" dirty="0"/>
              <a:t>Admitted: 1,489</a:t>
            </a:r>
          </a:p>
          <a:p>
            <a:pPr lvl="2"/>
            <a:r>
              <a:rPr lang="en-IN" sz="1200" dirty="0"/>
              <a:t>Discharged: 1,463</a:t>
            </a:r>
          </a:p>
          <a:p>
            <a:pPr lvl="2"/>
            <a:r>
              <a:rPr lang="en-IN" sz="1200" dirty="0"/>
              <a:t>Under Treatment: 1,446</a:t>
            </a:r>
          </a:p>
          <a:p>
            <a:endParaRPr lang="en-IN" sz="1600" dirty="0"/>
          </a:p>
          <a:p>
            <a:endParaRPr lang="en-IN" sz="11200" dirty="0"/>
          </a:p>
          <a:p>
            <a:endParaRPr lang="en-IN" sz="11200" dirty="0"/>
          </a:p>
          <a:p>
            <a:endParaRPr lang="en-IN" sz="11200" dirty="0"/>
          </a:p>
          <a:p>
            <a:endParaRPr lang="en-IN" sz="11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6198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5F54C-1FF4-5818-A74A-A265F6E5C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781"/>
            <a:ext cx="10515600" cy="6037006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/>
              <a:t>	This indicated that the issue was not limited to a particular patient status.</a:t>
            </a:r>
          </a:p>
          <a:p>
            <a:pPr marL="0" indent="0">
              <a:buNone/>
            </a:pPr>
            <a:r>
              <a:rPr lang="en-IN" sz="1600" dirty="0"/>
              <a:t>	Investigated possible date-format, missing-value, and date-sequence issues before making corrections.</a:t>
            </a:r>
          </a:p>
          <a:p>
            <a:pPr marL="0" indent="0">
              <a:buNone/>
            </a:pPr>
            <a:r>
              <a:rPr lang="en-IN" sz="1600" dirty="0"/>
              <a:t>4. Data Correction</a:t>
            </a:r>
          </a:p>
          <a:p>
            <a:pPr marL="0" indent="0">
              <a:buNone/>
            </a:pPr>
            <a:r>
              <a:rPr lang="en-IN" sz="1600" dirty="0"/>
              <a:t>	After validating the date relationship, records flagged as Invalid were reviewed.</a:t>
            </a:r>
          </a:p>
          <a:p>
            <a:pPr marL="0" indent="0">
              <a:buNone/>
            </a:pPr>
            <a:r>
              <a:rPr lang="en-IN" sz="1600" dirty="0"/>
              <a:t>	Admission Date and Discharge Date were swapped only for records where the date validation indicated an I	</a:t>
            </a:r>
            <a:r>
              <a:rPr lang="en-IN" sz="1600" dirty="0" err="1"/>
              <a:t>ncorrect</a:t>
            </a:r>
            <a:r>
              <a:rPr lang="en-IN" sz="1600" dirty="0"/>
              <a:t> sequence.</a:t>
            </a:r>
          </a:p>
          <a:p>
            <a:pPr marL="0" indent="0">
              <a:buNone/>
            </a:pPr>
            <a:r>
              <a:rPr lang="en-IN" sz="1600" dirty="0"/>
              <a:t>	Recalculated Length of Stay after correction.</a:t>
            </a:r>
          </a:p>
          <a:p>
            <a:pPr marL="0" indent="0">
              <a:buNone/>
            </a:pPr>
            <a:r>
              <a:rPr lang="en-IN" sz="1600" dirty="0"/>
              <a:t>	Revalidated the date relationship to ensure that corrected records followed the expected chronological 	order.</a:t>
            </a:r>
          </a:p>
          <a:p>
            <a:pPr marL="0" indent="0">
              <a:buNone/>
            </a:pPr>
            <a:r>
              <a:rPr lang="en-IN" sz="1600" dirty="0"/>
              <a:t>5. Final Data Quality Check</a:t>
            </a:r>
          </a:p>
          <a:p>
            <a:pPr marL="0" indent="0">
              <a:buNone/>
            </a:pPr>
            <a:r>
              <a:rPr lang="en-IN" sz="1600" dirty="0"/>
              <a:t>	Rechecked the corrected date fields.</a:t>
            </a:r>
          </a:p>
          <a:p>
            <a:pPr marL="0" indent="0">
              <a:buNone/>
            </a:pPr>
            <a:r>
              <a:rPr lang="en-IN" sz="1600" dirty="0"/>
              <a:t>	Confirmed that Admission Date ≤ Discharge Date for the corrected records.</a:t>
            </a:r>
          </a:p>
          <a:p>
            <a:pPr marL="0" indent="0">
              <a:buNone/>
            </a:pPr>
            <a:r>
              <a:rPr lang="en-IN" sz="1600" dirty="0"/>
              <a:t>	Ensured that the correction was based on a defined validation rule rather than arbitrary manual changes.</a:t>
            </a:r>
          </a:p>
          <a:p>
            <a:r>
              <a:rPr lang="en-IN" sz="1600" dirty="0"/>
              <a:t>Pivot Table Analysis</a:t>
            </a:r>
          </a:p>
          <a:p>
            <a:pPr marL="0" indent="0">
              <a:buNone/>
            </a:pPr>
            <a:r>
              <a:rPr lang="en-IN" sz="1600" dirty="0"/>
              <a:t>	</a:t>
            </a:r>
            <a:r>
              <a:rPr lang="en-IN" sz="1600" dirty="0" err="1"/>
              <a:t>i</a:t>
            </a:r>
            <a:r>
              <a:rPr lang="en-IN" sz="1600" dirty="0"/>
              <a:t>. Patients by Departments			v. </a:t>
            </a:r>
            <a:r>
              <a:rPr lang="en-IN" sz="1600" dirty="0" err="1"/>
              <a:t>Avg</a:t>
            </a:r>
            <a:r>
              <a:rPr lang="en-IN" sz="1600" dirty="0"/>
              <a:t> Length of stap according to department</a:t>
            </a:r>
          </a:p>
          <a:p>
            <a:pPr marL="0" indent="0">
              <a:buNone/>
            </a:pPr>
            <a:r>
              <a:rPr lang="en-IN" sz="1600" dirty="0"/>
              <a:t>	ii. Patients by </a:t>
            </a:r>
            <a:r>
              <a:rPr lang="en-IN" sz="1600" dirty="0" err="1"/>
              <a:t>Diagonosis</a:t>
            </a:r>
            <a:r>
              <a:rPr lang="en-IN" sz="1600" dirty="0"/>
              <a:t>			vi. Patients Status</a:t>
            </a:r>
          </a:p>
          <a:p>
            <a:pPr marL="0" indent="0">
              <a:buNone/>
            </a:pPr>
            <a:r>
              <a:rPr lang="en-IN" sz="1600" dirty="0"/>
              <a:t>	iii. Revenue by Department			vii. Monthly Admission</a:t>
            </a:r>
          </a:p>
          <a:p>
            <a:pPr marL="0" indent="0">
              <a:buNone/>
            </a:pPr>
            <a:r>
              <a:rPr lang="en-IN" sz="1600" dirty="0"/>
              <a:t>	iv. </a:t>
            </a:r>
            <a:r>
              <a:rPr lang="en-IN" sz="1600" dirty="0" err="1"/>
              <a:t>Avg</a:t>
            </a:r>
            <a:r>
              <a:rPr lang="en-IN" sz="1600" dirty="0"/>
              <a:t> Bill by </a:t>
            </a:r>
            <a:r>
              <a:rPr lang="en-IN" sz="1600" dirty="0" err="1"/>
              <a:t>Diagonosis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0772767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DAE62-CACD-6B9B-9DAF-B4F682D3B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355"/>
            <a:ext cx="10515600" cy="497512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1. Data Loading &amp; Initial Inspection</a:t>
            </a:r>
          </a:p>
          <a:p>
            <a:r>
              <a:rPr lang="en-IN" sz="1800" dirty="0"/>
              <a:t>Imported the healthcare dataset using </a:t>
            </a:r>
            <a:r>
              <a:rPr lang="en-IN" sz="1800" b="1" dirty="0"/>
              <a:t>Pandas</a:t>
            </a:r>
            <a:r>
              <a:rPr lang="en-IN" sz="1800" dirty="0"/>
              <a:t>.</a:t>
            </a:r>
          </a:p>
          <a:p>
            <a:r>
              <a:rPr lang="en-IN" sz="1800" dirty="0"/>
              <a:t>Reviewed dataset structure, dimensions, column names, and data types.</a:t>
            </a:r>
          </a:p>
          <a:p>
            <a:r>
              <a:rPr lang="en-IN" sz="1800" dirty="0"/>
              <a:t>Checked unique values and basic statistical summaries.</a:t>
            </a:r>
          </a:p>
          <a:p>
            <a:r>
              <a:rPr lang="en-IN" sz="1800" dirty="0"/>
              <a:t>Identified missing values and duplicate records.</a:t>
            </a:r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r>
              <a:rPr lang="en-IN" sz="1800" b="1" dirty="0"/>
              <a:t>2. Data Quality &amp; Cleaning</a:t>
            </a:r>
          </a:p>
          <a:p>
            <a:r>
              <a:rPr lang="en-IN" sz="1800" dirty="0"/>
              <a:t>Validated date columns and converted them into appropriate datetime format.</a:t>
            </a:r>
          </a:p>
          <a:p>
            <a:r>
              <a:rPr lang="en-IN" sz="1800" dirty="0"/>
              <a:t>Identified inconsistent Admission and Discharge Date relationships.</a:t>
            </a:r>
          </a:p>
          <a:p>
            <a:r>
              <a:rPr lang="en-IN" sz="1800" dirty="0"/>
              <a:t>Created and validated </a:t>
            </a:r>
            <a:r>
              <a:rPr lang="en-IN" sz="1800" b="1" dirty="0"/>
              <a:t>Length of Stay (LOS)</a:t>
            </a:r>
            <a:r>
              <a:rPr lang="en-IN" sz="1800" dirty="0"/>
              <a:t>.</a:t>
            </a:r>
          </a:p>
          <a:p>
            <a:r>
              <a:rPr lang="en-IN" sz="1800" dirty="0"/>
              <a:t>Identified records with negative LOS and corrected the date sequence based on the validation rule.</a:t>
            </a:r>
          </a:p>
          <a:p>
            <a:r>
              <a:rPr lang="en-IN" sz="1800" dirty="0"/>
              <a:t>Checked duplicate values in key fields such as Email.</a:t>
            </a:r>
          </a:p>
          <a:p>
            <a:r>
              <a:rPr lang="en-IN" sz="1800" dirty="0"/>
              <a:t>Reviewed categorical values for consistency.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887EFC9-96C2-30FB-6447-CE910FA14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5025"/>
          </a:xfrm>
          <a:solidFill>
            <a:schemeClr val="bg1">
              <a:lumMod val="95000"/>
            </a:schemeClr>
          </a:solidFill>
          <a:ln w="19050">
            <a:solidFill>
              <a:schemeClr val="tx2">
                <a:lumMod val="25000"/>
                <a:lumOff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en-IN" sz="3600" dirty="0"/>
              <a:t>Python Data Analysis &amp; Exploratory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2781776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01FB4-E75E-FC68-2C76-6E50A05BB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0774"/>
            <a:ext cx="10515600" cy="5781367"/>
          </a:xfrm>
          <a:solidFill>
            <a:schemeClr val="bg1">
              <a:lumMod val="85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800" b="1" dirty="0"/>
              <a:t>3. Feature Engineering</a:t>
            </a:r>
          </a:p>
          <a:p>
            <a:pPr marL="0" indent="0">
              <a:buNone/>
            </a:pPr>
            <a:r>
              <a:rPr lang="en-IN" sz="1800" dirty="0"/>
              <a:t>Created analytical fields to support further analysis:</a:t>
            </a:r>
          </a:p>
          <a:p>
            <a:r>
              <a:rPr lang="en-IN" sz="1800" dirty="0"/>
              <a:t>Length of Stay</a:t>
            </a:r>
          </a:p>
          <a:p>
            <a:r>
              <a:rPr lang="en-IN" sz="1800" dirty="0"/>
              <a:t>Age Groups</a:t>
            </a:r>
          </a:p>
          <a:p>
            <a:r>
              <a:rPr lang="en-IN" sz="1800" dirty="0"/>
              <a:t>Admission Year / Month</a:t>
            </a:r>
          </a:p>
          <a:p>
            <a:r>
              <a:rPr lang="en-IN" sz="1800" dirty="0"/>
              <a:t>Date Validation Flag</a:t>
            </a:r>
          </a:p>
          <a:p>
            <a:r>
              <a:rPr lang="en-IN" sz="1800" dirty="0"/>
              <a:t>Data Quality Flags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4. Descriptive &amp; Exploratory Analysis</a:t>
            </a:r>
          </a:p>
          <a:p>
            <a:pPr marL="0" indent="0">
              <a:buNone/>
            </a:pPr>
            <a:r>
              <a:rPr lang="en-IN" sz="1800" dirty="0" err="1"/>
              <a:t>Analyzed</a:t>
            </a:r>
            <a:r>
              <a:rPr lang="en-IN" sz="1800" dirty="0"/>
              <a:t>:</a:t>
            </a:r>
          </a:p>
          <a:p>
            <a:r>
              <a:rPr lang="en-IN" sz="1800" dirty="0"/>
              <a:t>Patient distribution by Department</a:t>
            </a:r>
          </a:p>
          <a:p>
            <a:r>
              <a:rPr lang="en-IN" sz="1800" dirty="0"/>
              <a:t>Patient distribution by Gender and Age Group</a:t>
            </a:r>
          </a:p>
          <a:p>
            <a:r>
              <a:rPr lang="en-IN" sz="1800" dirty="0"/>
              <a:t>Diagnosis and Treatment patterns</a:t>
            </a:r>
          </a:p>
          <a:p>
            <a:r>
              <a:rPr lang="en-IN" sz="1800" dirty="0"/>
              <a:t>Patient Status distribution</a:t>
            </a:r>
          </a:p>
          <a:p>
            <a:r>
              <a:rPr lang="en-IN" sz="1800" dirty="0"/>
              <a:t>Department-wise patient volume</a:t>
            </a:r>
          </a:p>
          <a:p>
            <a:r>
              <a:rPr lang="en-IN" sz="1800" dirty="0"/>
              <a:t>Department-wise revenue</a:t>
            </a:r>
          </a:p>
          <a:p>
            <a:r>
              <a:rPr lang="en-IN" sz="1800" dirty="0"/>
              <a:t>Average billing amount</a:t>
            </a:r>
          </a:p>
          <a:p>
            <a:r>
              <a:rPr lang="en-IN" sz="1800" dirty="0"/>
              <a:t>Average Length of Stay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478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6756A-84E9-BE0C-7A2F-460BCD8EA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1613"/>
            <a:ext cx="10515600" cy="5685350"/>
          </a:xfrm>
          <a:solidFill>
            <a:schemeClr val="bg1">
              <a:lumMod val="85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800" b="1" dirty="0"/>
              <a:t>5. Aggregation &amp; Group Analysis</a:t>
            </a:r>
          </a:p>
          <a:p>
            <a:pPr marL="0" indent="0">
              <a:buNone/>
            </a:pPr>
            <a:r>
              <a:rPr lang="en-IN" sz="1800" dirty="0"/>
              <a:t>Used Pandas </a:t>
            </a:r>
            <a:r>
              <a:rPr lang="en-IN" sz="1800" dirty="0" err="1"/>
              <a:t>groupby</a:t>
            </a:r>
            <a:r>
              <a:rPr lang="en-IN" sz="1800" dirty="0"/>
              <a:t>() and aggregation functions to calculate:</a:t>
            </a:r>
          </a:p>
          <a:p>
            <a:r>
              <a:rPr lang="en-IN" sz="1800" dirty="0"/>
              <a:t>Patient Count</a:t>
            </a:r>
          </a:p>
          <a:p>
            <a:r>
              <a:rPr lang="en-IN" sz="1800" dirty="0"/>
              <a:t>Total Revenue</a:t>
            </a:r>
          </a:p>
          <a:p>
            <a:r>
              <a:rPr lang="en-IN" sz="1800" dirty="0"/>
              <a:t>Average Bill Amount</a:t>
            </a:r>
          </a:p>
          <a:p>
            <a:r>
              <a:rPr lang="en-IN" sz="1800" dirty="0"/>
              <a:t>Average Length of Stay</a:t>
            </a:r>
          </a:p>
          <a:p>
            <a:r>
              <a:rPr lang="en-IN" sz="1800" dirty="0"/>
              <a:t>Example analytical structure:</a:t>
            </a:r>
          </a:p>
          <a:p>
            <a:r>
              <a:rPr lang="en-IN" sz="1800" dirty="0"/>
              <a:t>Department → Patient Volume → Revenue → Average Bill → Average LOS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6. Statistical Analysis</a:t>
            </a:r>
          </a:p>
          <a:p>
            <a:pPr marL="0" indent="0">
              <a:buNone/>
            </a:pPr>
            <a:r>
              <a:rPr lang="en-IN" sz="1800" dirty="0"/>
              <a:t>Calculated key statistical measures using </a:t>
            </a:r>
            <a:r>
              <a:rPr lang="en-IN" sz="1800" b="1" dirty="0"/>
              <a:t>NumPy and Pandas</a:t>
            </a:r>
            <a:r>
              <a:rPr lang="en-IN" sz="1800" dirty="0"/>
              <a:t>, including:</a:t>
            </a:r>
          </a:p>
          <a:p>
            <a:r>
              <a:rPr lang="en-IN" sz="1800" dirty="0"/>
              <a:t>Mean</a:t>
            </a:r>
          </a:p>
          <a:p>
            <a:r>
              <a:rPr lang="en-IN" sz="1800" dirty="0"/>
              <a:t>Median</a:t>
            </a:r>
          </a:p>
          <a:p>
            <a:r>
              <a:rPr lang="en-IN" sz="1800" dirty="0"/>
              <a:t>Standard Deviation</a:t>
            </a:r>
          </a:p>
          <a:p>
            <a:r>
              <a:rPr lang="en-IN" sz="1800" dirty="0"/>
              <a:t>Minimum / Maximum</a:t>
            </a:r>
          </a:p>
          <a:p>
            <a:r>
              <a:rPr lang="en-IN" sz="1800" dirty="0"/>
              <a:t>Percentiles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5672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3DAB6-C39F-CC8E-701D-87C2058EA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3458"/>
            <a:ext cx="10515600" cy="60960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 dirty="0"/>
              <a:t>7. Relationship Analysis</a:t>
            </a:r>
          </a:p>
          <a:p>
            <a:pPr marL="0" indent="0">
              <a:buNone/>
            </a:pPr>
            <a:r>
              <a:rPr lang="en-IN" sz="1600" dirty="0"/>
              <a:t>Performed correlation analysis between numerical variables.</a:t>
            </a:r>
          </a:p>
          <a:p>
            <a:r>
              <a:rPr lang="en-IN" sz="1600" b="1" dirty="0"/>
              <a:t>Length of Stay vs. Bill Amount</a:t>
            </a:r>
            <a:endParaRPr lang="en-IN" sz="1600" dirty="0"/>
          </a:p>
          <a:p>
            <a:r>
              <a:rPr lang="en-IN" sz="1600" dirty="0"/>
              <a:t>Correlation: </a:t>
            </a:r>
            <a:r>
              <a:rPr lang="en-IN" sz="1600" b="1" dirty="0"/>
              <a:t>-0.00337</a:t>
            </a:r>
            <a:endParaRPr lang="en-IN" sz="1600" dirty="0"/>
          </a:p>
          <a:p>
            <a:r>
              <a:rPr lang="en-IN" sz="1600" b="1" dirty="0"/>
              <a:t>Finding:</a:t>
            </a:r>
            <a:r>
              <a:rPr lang="en-IN" sz="1600" dirty="0"/>
              <a:t> The analysis indicates almost no linear relationship between Length of Stay and Bill Amount in the dataset.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8. Data Visualization</a:t>
            </a:r>
          </a:p>
          <a:p>
            <a:pPr marL="0" indent="0">
              <a:buNone/>
            </a:pPr>
            <a:r>
              <a:rPr lang="en-IN" sz="1600" dirty="0"/>
              <a:t>Created visualizations using </a:t>
            </a:r>
            <a:r>
              <a:rPr lang="en-IN" sz="1600" b="1" dirty="0"/>
              <a:t>Matplotlib and Seaborn</a:t>
            </a:r>
            <a:r>
              <a:rPr lang="en-IN" sz="1600" dirty="0"/>
              <a:t> to identify:</a:t>
            </a:r>
          </a:p>
          <a:p>
            <a:r>
              <a:rPr lang="en-IN" sz="1600" dirty="0"/>
              <a:t>Distribution patterns</a:t>
            </a:r>
          </a:p>
          <a:p>
            <a:r>
              <a:rPr lang="en-IN" sz="1600" dirty="0"/>
              <a:t>Department comparisons</a:t>
            </a:r>
          </a:p>
          <a:p>
            <a:r>
              <a:rPr lang="en-IN" sz="1600" dirty="0"/>
              <a:t>Revenue trends</a:t>
            </a:r>
          </a:p>
          <a:p>
            <a:r>
              <a:rPr lang="en-IN" sz="1600" dirty="0"/>
              <a:t>Patient demographics</a:t>
            </a:r>
          </a:p>
          <a:p>
            <a:r>
              <a:rPr lang="en-IN" sz="1600" dirty="0"/>
              <a:t>Relationships between numerical variables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2000" b="1" dirty="0"/>
              <a:t>Python Tools Used</a:t>
            </a:r>
          </a:p>
          <a:p>
            <a:pPr marL="0" indent="0">
              <a:buNone/>
            </a:pPr>
            <a:r>
              <a:rPr lang="en-IN" sz="2000" b="1" dirty="0"/>
              <a:t>Python | Pandas | NumPy | Matplotlib | Seaborn | </a:t>
            </a:r>
            <a:r>
              <a:rPr lang="en-IN" sz="2000" b="1" dirty="0" err="1"/>
              <a:t>Jupyter</a:t>
            </a:r>
            <a:r>
              <a:rPr lang="en-IN" sz="2000" b="1" dirty="0"/>
              <a:t> Notebook</a:t>
            </a:r>
            <a:endParaRPr lang="en-IN" sz="20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2808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1F557-C7EE-961C-1161-E82FF0D5F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1666B-6C1F-2817-CE5D-91487F24E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93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1462</TotalTime>
  <Words>867</Words>
  <Application>Microsoft Office PowerPoint</Application>
  <PresentationFormat>Widescreen</PresentationFormat>
  <Paragraphs>125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Healthcare_Data_Analysis</vt:lpstr>
      <vt:lpstr>Features</vt:lpstr>
      <vt:lpstr>Excel-Data Quality Checklist</vt:lpstr>
      <vt:lpstr>PowerPoint Presentation</vt:lpstr>
      <vt:lpstr>PowerPoint Presentation</vt:lpstr>
      <vt:lpstr>Python Data Analysis &amp; Exploratory Data Analysis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Saurabh Nakul</dc:creator>
  <cp:lastModifiedBy>Saurabh Nakul</cp:lastModifiedBy>
  <cp:revision>1</cp:revision>
  <dcterms:created xsi:type="dcterms:W3CDTF">2026-10-07T20:56:42Z</dcterms:created>
  <dcterms:modified xsi:type="dcterms:W3CDTF">2026-10-08T21:19:24Z</dcterms:modified>
</cp:coreProperties>
</file>